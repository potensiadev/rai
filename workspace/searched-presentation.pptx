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12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5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964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382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71300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83596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55931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5406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27075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85852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99105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0947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18154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34158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62865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0602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901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sldNum="0"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88653" y="1447940"/>
            <a:ext cx="496668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서치드</a:t>
            </a: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4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Srchd</a:t>
            </a: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3387335" y="2670107"/>
            <a:ext cx="236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Headhunter Platform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06645" y="2219939"/>
            <a:ext cx="5599329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3000"/>
              </a:spcAft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헤드헌터를 위한 AI 기반 이력서 관리 및 후보자 매칭 솔루션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559350"/>
            <a:ext cx="9144000" cy="76200"/>
          </a:xfrm>
          <a:prstGeom prst="rect">
            <a:avLst/>
          </a:prstGeom>
          <a:solidFill>
            <a:srgbClr val="4A90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B1547371-6F73-432E-9F64-66096493731F}"/>
              </a:ext>
            </a:extLst>
          </p:cNvPr>
          <p:cNvSpPr/>
          <p:nvPr/>
        </p:nvSpPr>
        <p:spPr>
          <a:xfrm>
            <a:off x="3387336" y="4207994"/>
            <a:ext cx="236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200" dirty="0" err="1">
                <a:solidFill>
                  <a:srgbClr val="AAB7B8"/>
                </a:solidFill>
                <a:latin typeface="Arial" pitchFamily="34" charset="0"/>
                <a:cs typeface="Arial" pitchFamily="34" charset="-120"/>
              </a:rPr>
              <a:t>Srchd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16">
            <a:extLst>
              <a:ext uri="{FF2B5EF4-FFF2-40B4-BE49-F238E27FC236}">
                <a16:creationId xmlns:a16="http://schemas.microsoft.com/office/drawing/2014/main" id="{D46D4030-73B4-4165-8467-EAE4F179E992}"/>
              </a:ext>
            </a:extLst>
          </p:cNvPr>
          <p:cNvSpPr/>
          <p:nvPr/>
        </p:nvSpPr>
        <p:spPr>
          <a:xfrm>
            <a:off x="6095851" y="1857077"/>
            <a:ext cx="2540050" cy="2212330"/>
          </a:xfrm>
          <a:prstGeom prst="roundRect">
            <a:avLst>
              <a:gd name="adj" fmla="val 5741"/>
            </a:avLst>
          </a:prstGeom>
          <a:solidFill>
            <a:srgbClr val="F0F7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762000" y="1219646"/>
            <a:ext cx="77724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서치드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5154" y="431117"/>
            <a:ext cx="8227407" cy="621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60"/>
              </a:lnSpc>
              <a:spcAft>
                <a:spcPts val="1600"/>
              </a:spcAft>
              <a:buNone/>
            </a:pPr>
            <a:r>
              <a:rPr lang="ko-KR" altLang="en-US" sz="3800" b="1" dirty="0" err="1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헤드헌터의</a:t>
            </a:r>
            <a:r>
              <a:rPr lang="ko-KR" altLang="en-US" sz="38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38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ko-KR" altLang="en-US" sz="38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가지 문제를 해결합니다</a:t>
            </a:r>
            <a:endParaRPr lang="en-US" altLang="ko-KR" sz="3800" b="1" dirty="0">
              <a:solidFill>
                <a:srgbClr val="4A90D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0" y="4559350"/>
            <a:ext cx="9144000" cy="76200"/>
          </a:xfrm>
          <a:prstGeom prst="rect">
            <a:avLst/>
          </a:prstGeom>
          <a:solidFill>
            <a:srgbClr val="4A90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2DA2CA2-F521-4D12-94DD-EEDE6432FB8E}"/>
              </a:ext>
            </a:extLst>
          </p:cNvPr>
          <p:cNvSpPr/>
          <p:nvPr/>
        </p:nvSpPr>
        <p:spPr>
          <a:xfrm>
            <a:off x="507950" y="1857077"/>
            <a:ext cx="2540050" cy="2212330"/>
          </a:xfrm>
          <a:prstGeom prst="roundRect">
            <a:avLst>
              <a:gd name="adj" fmla="val 5741"/>
            </a:avLst>
          </a:prstGeom>
          <a:solidFill>
            <a:srgbClr val="F0F7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FDE4F4F-8214-45D3-8A04-36423431F5CE}"/>
              </a:ext>
            </a:extLst>
          </p:cNvPr>
          <p:cNvSpPr/>
          <p:nvPr/>
        </p:nvSpPr>
        <p:spPr>
          <a:xfrm>
            <a:off x="1498550" y="2110978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4A90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60E137F-6106-4420-944E-165F9AD90196}"/>
              </a:ext>
            </a:extLst>
          </p:cNvPr>
          <p:cNvSpPr/>
          <p:nvPr/>
        </p:nvSpPr>
        <p:spPr>
          <a:xfrm>
            <a:off x="1492963" y="2110978"/>
            <a:ext cx="569875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22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7E701DD-35A2-460D-838F-1B452232B4A7}"/>
              </a:ext>
            </a:extLst>
          </p:cNvPr>
          <p:cNvSpPr/>
          <p:nvPr/>
        </p:nvSpPr>
        <p:spPr>
          <a:xfrm>
            <a:off x="741529" y="2847380"/>
            <a:ext cx="20728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이력서 분석</a:t>
            </a:r>
            <a:endParaRPr lang="en-US" sz="14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17EDE0CD-5D09-4504-92D7-C062C5B7761B}"/>
              </a:ext>
            </a:extLst>
          </p:cNvPr>
          <p:cNvSpPr/>
          <p:nvPr/>
        </p:nvSpPr>
        <p:spPr>
          <a:xfrm>
            <a:off x="741529" y="3161705"/>
            <a:ext cx="207289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30페이지 이력서도 30초면 핵심 파악</a:t>
            </a:r>
            <a:endParaRPr lang="en-US" sz="10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E36467B-1616-496E-8B88-A8668E2DC937}"/>
              </a:ext>
            </a:extLst>
          </p:cNvPr>
          <p:cNvSpPr/>
          <p:nvPr/>
        </p:nvSpPr>
        <p:spPr>
          <a:xfrm>
            <a:off x="741529" y="3644057"/>
            <a:ext cx="20728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5년치 이력서가 검색 자산으로</a:t>
            </a:r>
            <a:endParaRPr lang="en-US" sz="10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AD4BC86-720C-4139-BBB9-34782A30E3D2}"/>
              </a:ext>
            </a:extLst>
          </p:cNvPr>
          <p:cNvSpPr/>
          <p:nvPr/>
        </p:nvSpPr>
        <p:spPr>
          <a:xfrm>
            <a:off x="3301901" y="1857077"/>
            <a:ext cx="2540050" cy="2212330"/>
          </a:xfrm>
          <a:prstGeom prst="roundRect">
            <a:avLst>
              <a:gd name="adj" fmla="val 5741"/>
            </a:avLst>
          </a:prstGeom>
          <a:solidFill>
            <a:srgbClr val="F0F7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DC1F8010-DACD-47E2-ACF8-CAB2D34A7617}"/>
              </a:ext>
            </a:extLst>
          </p:cNvPr>
          <p:cNvSpPr/>
          <p:nvPr/>
        </p:nvSpPr>
        <p:spPr>
          <a:xfrm>
            <a:off x="4292501" y="2110978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4A90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F4775EDC-9466-4555-88E6-4E925EF9F4BE}"/>
              </a:ext>
            </a:extLst>
          </p:cNvPr>
          <p:cNvSpPr/>
          <p:nvPr/>
        </p:nvSpPr>
        <p:spPr>
          <a:xfrm>
            <a:off x="4286914" y="2110978"/>
            <a:ext cx="569875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2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C65A1C0E-623C-49F5-8D6E-1508CE1174CE}"/>
              </a:ext>
            </a:extLst>
          </p:cNvPr>
          <p:cNvSpPr/>
          <p:nvPr/>
        </p:nvSpPr>
        <p:spPr>
          <a:xfrm>
            <a:off x="3535479" y="2847380"/>
            <a:ext cx="20728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 스마트 매칭</a:t>
            </a:r>
            <a:endParaRPr lang="en-US" sz="14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8D0CBE5B-AB48-450E-8F79-0DE6680394D8}"/>
              </a:ext>
            </a:extLst>
          </p:cNvPr>
          <p:cNvSpPr/>
          <p:nvPr/>
        </p:nvSpPr>
        <p:spPr>
          <a:xfrm>
            <a:off x="3535479" y="3161705"/>
            <a:ext cx="207289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 입력하면 AI가 최적 후보자 자동 추천</a:t>
            </a:r>
            <a:endParaRPr lang="en-US" sz="10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42D491A1-7521-40CB-97D9-7850AE2501CE}"/>
              </a:ext>
            </a:extLst>
          </p:cNvPr>
          <p:cNvSpPr/>
          <p:nvPr/>
        </p:nvSpPr>
        <p:spPr>
          <a:xfrm>
            <a:off x="3535479" y="3644057"/>
            <a:ext cx="20728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정확도 94%</a:t>
            </a:r>
            <a:endParaRPr lang="en-US" sz="10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13D63791-BC6B-4A0D-8194-60A93E55EA0B}"/>
              </a:ext>
            </a:extLst>
          </p:cNvPr>
          <p:cNvSpPr/>
          <p:nvPr/>
        </p:nvSpPr>
        <p:spPr>
          <a:xfrm>
            <a:off x="7086451" y="2110978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4A90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14F44B84-79B4-4C93-821A-E090DA52F766}"/>
              </a:ext>
            </a:extLst>
          </p:cNvPr>
          <p:cNvSpPr/>
          <p:nvPr/>
        </p:nvSpPr>
        <p:spPr>
          <a:xfrm>
            <a:off x="7080864" y="2110978"/>
            <a:ext cx="569875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2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FA31307-8828-4F4F-B45E-1E3EF1ACD3BC}"/>
              </a:ext>
            </a:extLst>
          </p:cNvPr>
          <p:cNvSpPr/>
          <p:nvPr/>
        </p:nvSpPr>
        <p:spPr>
          <a:xfrm>
            <a:off x="6329429" y="2847380"/>
            <a:ext cx="20728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검색</a:t>
            </a:r>
            <a:endParaRPr lang="en-US" sz="14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7B0667BA-2233-4616-9A63-D9269D8B85AC}"/>
              </a:ext>
            </a:extLst>
          </p:cNvPr>
          <p:cNvSpPr/>
          <p:nvPr/>
        </p:nvSpPr>
        <p:spPr>
          <a:xfrm>
            <a:off x="6329429" y="3161705"/>
            <a:ext cx="207289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"네카라쿠배 출신 개발자" 자연어로 검색</a:t>
            </a:r>
            <a:endParaRPr lang="en-US" sz="10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ECC9530A-3B15-4F64-B798-BAEF61D33714}"/>
              </a:ext>
            </a:extLst>
          </p:cNvPr>
          <p:cNvSpPr/>
          <p:nvPr/>
        </p:nvSpPr>
        <p:spPr>
          <a:xfrm>
            <a:off x="6329429" y="3644057"/>
            <a:ext cx="20728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시간 90% 단축</a:t>
            </a:r>
            <a:endParaRPr lang="en-US" sz="10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DF50AF1-B6C7-436B-BDD3-F35F2B8E317B}"/>
              </a:ext>
            </a:extLst>
          </p:cNvPr>
          <p:cNvSpPr/>
          <p:nvPr/>
        </p:nvSpPr>
        <p:spPr>
          <a:xfrm>
            <a:off x="495154" y="1236791"/>
            <a:ext cx="80392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lang="en-US" altLang="ko-KR" dirty="0" err="1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</a:t>
            </a:r>
            <a:r>
              <a:rPr lang="en-US" altLang="ko-KR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dirty="0" err="1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이력서를</a:t>
            </a:r>
            <a:r>
              <a:rPr lang="en-US" altLang="ko-KR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dirty="0" err="1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분석하고</a:t>
            </a:r>
            <a:r>
              <a:rPr lang="en-US" altLang="ko-KR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altLang="ko-KR" dirty="0" err="1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JD를</a:t>
            </a:r>
            <a:r>
              <a:rPr lang="en-US" altLang="ko-KR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dirty="0" err="1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이해하고</a:t>
            </a:r>
            <a:r>
              <a:rPr lang="en-US" altLang="ko-KR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altLang="ko-KR" dirty="0" err="1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최적의</a:t>
            </a:r>
            <a:r>
              <a:rPr lang="en-US" altLang="ko-KR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dirty="0" err="1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후보자를</a:t>
            </a:r>
            <a:r>
              <a:rPr lang="en-US" altLang="ko-KR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dirty="0" err="1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찾아드립니다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20689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65050"/>
            <a:ext cx="1697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헤드헌터의 현실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888802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바쁜데 매출은 안 오를까요?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552277"/>
            <a:ext cx="2573982" cy="1997571"/>
          </a:xfrm>
          <a:prstGeom prst="roundRect">
            <a:avLst>
              <a:gd name="adj" fmla="val 635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552277"/>
            <a:ext cx="0" cy="1997571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4175" y="1780877"/>
            <a:ext cx="211054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84175" y="2317403"/>
            <a:ext cx="21105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 수가 적다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4175" y="2631728"/>
            <a:ext cx="211054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찾는 데 시간 다 쓰고, </a:t>
            </a:r>
            <a:r>
              <a:rPr lang="en-US" sz="1100" dirty="0" err="1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포지션당</a:t>
            </a: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3명 겨우 제출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4175" y="3149798"/>
            <a:ext cx="21105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 3명 → 5명 = 면접 +66%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85083" y="1552277"/>
            <a:ext cx="2573982" cy="1997571"/>
          </a:xfrm>
          <a:prstGeom prst="roundRect">
            <a:avLst>
              <a:gd name="adj" fmla="val 635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308896" y="1552277"/>
            <a:ext cx="0" cy="1997571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1308" y="1780877"/>
            <a:ext cx="211054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61308" y="2317403"/>
            <a:ext cx="21105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미스매치가 잦다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1308" y="2631728"/>
            <a:ext cx="211054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급하게 매칭해서 제출했는데, "왜 보냈어요?"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1308" y="3149798"/>
            <a:ext cx="21105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면접 전환율 30% → 60%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62216" y="1552277"/>
            <a:ext cx="2573982" cy="1997571"/>
          </a:xfrm>
          <a:prstGeom prst="roundRect">
            <a:avLst>
              <a:gd name="adj" fmla="val 635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086029" y="1552277"/>
            <a:ext cx="0" cy="1997571"/>
          </a:xfrm>
          <a:prstGeom prst="line">
            <a:avLst/>
          </a:prstGeom>
          <a:noFill/>
          <a:ln w="47625">
            <a:solidFill>
              <a:srgbClr val="7F8C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8441" y="1780877"/>
            <a:ext cx="211054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38441" y="2317403"/>
            <a:ext cx="21105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타이밍을 놓친다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38441" y="2631728"/>
            <a:ext cx="211054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"내일 보낼게요" 했는데, 경쟁사가 오늘 면접 잡음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8441" y="3149798"/>
            <a:ext cx="21105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경쟁사보다 1일 빠르게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65050"/>
            <a:ext cx="146385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서치드 솔루션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888802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서치드가 3가지 병목을 해결합니다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374577"/>
            <a:ext cx="8290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0"/>
              </a:spcAft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이력서를 분석하고, JD를 이해하고, 최적의 후보자를 찾아드립니다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857077"/>
            <a:ext cx="2540050" cy="2212330"/>
          </a:xfrm>
          <a:prstGeom prst="roundRect">
            <a:avLst>
              <a:gd name="adj" fmla="val 5741"/>
            </a:avLst>
          </a:prstGeom>
          <a:solidFill>
            <a:srgbClr val="F0F7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98550" y="2110978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4A90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92963" y="2110978"/>
            <a:ext cx="569875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1529" y="2847380"/>
            <a:ext cx="20728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이력서 분석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1529" y="3161705"/>
            <a:ext cx="207289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30페이지 이력서도 30초면 핵심 파악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1529" y="3644057"/>
            <a:ext cx="20728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5년치 이력서가 검색 자산으로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01901" y="1857077"/>
            <a:ext cx="2540050" cy="2212330"/>
          </a:xfrm>
          <a:prstGeom prst="roundRect">
            <a:avLst>
              <a:gd name="adj" fmla="val 5741"/>
            </a:avLst>
          </a:prstGeom>
          <a:solidFill>
            <a:srgbClr val="F0F7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92501" y="2110978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4A90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286914" y="2110978"/>
            <a:ext cx="569875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35479" y="2847380"/>
            <a:ext cx="20728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 스마트 매칭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35479" y="3161705"/>
            <a:ext cx="207289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 입력하면 AI가 최적 후보자 자동 추천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35479" y="3644057"/>
            <a:ext cx="20728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정확도 94%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95851" y="1857077"/>
            <a:ext cx="2540050" cy="2212330"/>
          </a:xfrm>
          <a:prstGeom prst="roundRect">
            <a:avLst>
              <a:gd name="adj" fmla="val 5741"/>
            </a:avLst>
          </a:prstGeom>
          <a:solidFill>
            <a:srgbClr val="F0F7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086451" y="2110978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4A90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80864" y="2110978"/>
            <a:ext cx="569875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29429" y="2847380"/>
            <a:ext cx="20728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검색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29429" y="3161705"/>
            <a:ext cx="207289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"네카라쿠배 출신 개발자" 자연어로 검색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29429" y="3644057"/>
            <a:ext cx="20728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시간 90% 단축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65050"/>
            <a:ext cx="11919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888802"/>
            <a:ext cx="395102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이력서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1" y="1336477"/>
            <a:ext cx="25181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ko-KR" alt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이력서 </a:t>
            </a:r>
            <a:r>
              <a:rPr lang="en-US" sz="1200" dirty="0" err="1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업로드만</a:t>
            </a: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하면 AI가 자동 분석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173965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A90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4902" y="1739652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9701" y="1739652"/>
            <a:ext cx="35106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이력서 업로드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9701" y="1964978"/>
            <a:ext cx="35106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Word, HWP 모든 형식 지원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228882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A90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4902" y="2288828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9701" y="2288828"/>
            <a:ext cx="35106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자동 분석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9701" y="2514154"/>
            <a:ext cx="35106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30페이지도 30초 내 핵심 정보 추출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50" y="283800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A90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4902" y="2838004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9701" y="2838004"/>
            <a:ext cx="35106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가능한 DB화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9701" y="3063329"/>
            <a:ext cx="35106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이력서가 검색 가능한 자산으로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62500" y="888802"/>
            <a:ext cx="3873550" cy="3873698"/>
          </a:xfrm>
          <a:prstGeom prst="roundRect">
            <a:avLst>
              <a:gd name="adj" fmla="val 327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65650" y="1091952"/>
            <a:ext cx="35365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결과 예시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65650" y="1390352"/>
            <a:ext cx="3467249" cy="1707803"/>
          </a:xfrm>
          <a:prstGeom prst="roundRect">
            <a:avLst>
              <a:gd name="adj" fmla="val 5949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18050" y="1542752"/>
            <a:ext cx="32256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박지현 | Product Manager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18050" y="1834753"/>
            <a:ext cx="32256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현재: 쿠팡 Senior PM (3년)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18050" y="2056954"/>
            <a:ext cx="32256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경력: 8년 2개월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18050" y="2279154"/>
            <a:ext cx="32256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학력: 서울대학교 경영학과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18050" y="2501354"/>
            <a:ext cx="32256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스킬: Product Strategy, Data Analysis, SQL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18050" y="2723555"/>
            <a:ext cx="32256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하이라이트: MAU 200만 서비스, 전환율 40% 개선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65050"/>
            <a:ext cx="11919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888802"/>
            <a:ext cx="359185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 스마트 매칭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336477"/>
            <a:ext cx="35918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JD만 붙여넣으면 AI가 최적 후보자 추천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17396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4A90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5664" y="1739652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3501" y="1739652"/>
            <a:ext cx="2582198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 자동 분석으로 핵심 요구사항 추출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21206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4A90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5664" y="2120652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3501" y="2120652"/>
            <a:ext cx="2763604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보유 DB에서 매칭되는 후보자 자동 추천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950" y="25016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4A90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5664" y="2501652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3501" y="2501652"/>
            <a:ext cx="2504474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점수와 이유까지 상세하게 제공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950" y="28826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4A90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5664" y="2882652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3501" y="2882652"/>
            <a:ext cx="1891486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 받고 1시간 내 제안 가능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10373" y="888802"/>
            <a:ext cx="4225677" cy="3262610"/>
          </a:xfrm>
          <a:prstGeom prst="roundRect">
            <a:avLst>
              <a:gd name="adj" fmla="val 389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13523" y="1091952"/>
            <a:ext cx="3819376" cy="650081"/>
          </a:xfrm>
          <a:prstGeom prst="roundRect">
            <a:avLst>
              <a:gd name="adj" fmla="val 1172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49998" y="1228427"/>
            <a:ext cx="36173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 입력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49998" y="1457027"/>
            <a:ext cx="361735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[MLOps Engineer] Kubernetes 3년+, Python, ML Pipeline 경험...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3523" y="1868984"/>
            <a:ext cx="3819376" cy="2079278"/>
          </a:xfrm>
          <a:prstGeom prst="roundRect">
            <a:avLst>
              <a:gd name="adj" fmla="val 3665"/>
            </a:avLst>
          </a:prstGeom>
          <a:solidFill>
            <a:srgbClr val="4A90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40473" y="1995934"/>
            <a:ext cx="36367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추천 후보자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0473" y="2268885"/>
            <a:ext cx="3565475" cy="466725"/>
          </a:xfrm>
          <a:prstGeom prst="roundRect">
            <a:avLst>
              <a:gd name="adj" fmla="val 10884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41974" y="2345085"/>
            <a:ext cx="14961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김현우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1974" y="2516535"/>
            <a:ext cx="14961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 Engineer @ 카카오 | 7년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23150" y="2397472"/>
            <a:ext cx="381298" cy="209550"/>
          </a:xfrm>
          <a:prstGeom prst="roundRect">
            <a:avLst>
              <a:gd name="adj" fmla="val 18182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899350" y="2435572"/>
            <a:ext cx="233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40473" y="2786360"/>
            <a:ext cx="3565475" cy="466725"/>
          </a:xfrm>
          <a:prstGeom prst="roundRect">
            <a:avLst>
              <a:gd name="adj" fmla="val 10884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41974" y="2862560"/>
            <a:ext cx="13024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이서준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1974" y="3034010"/>
            <a:ext cx="13024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Engineer @ 네이버 | 6년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823150" y="2914948"/>
            <a:ext cx="381298" cy="209550"/>
          </a:xfrm>
          <a:prstGeom prst="roundRect">
            <a:avLst>
              <a:gd name="adj" fmla="val 18182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899350" y="2953048"/>
            <a:ext cx="233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40473" y="3303836"/>
            <a:ext cx="3565475" cy="466725"/>
          </a:xfrm>
          <a:prstGeom prst="roundRect">
            <a:avLst>
              <a:gd name="adj" fmla="val 10884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41974" y="3380036"/>
            <a:ext cx="14330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박민지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1974" y="3551486"/>
            <a:ext cx="14330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Engineer @ 라인 | 5년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823150" y="3432423"/>
            <a:ext cx="381298" cy="209550"/>
          </a:xfrm>
          <a:prstGeom prst="roundRect">
            <a:avLst>
              <a:gd name="adj" fmla="val 18182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899350" y="3470523"/>
            <a:ext cx="233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65050"/>
            <a:ext cx="11919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888802"/>
            <a:ext cx="359185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검색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336477"/>
            <a:ext cx="35918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필터 대신, 말하듯이 검색하세요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1714202"/>
            <a:ext cx="3521422" cy="374452"/>
          </a:xfrm>
          <a:prstGeom prst="roundRect">
            <a:avLst>
              <a:gd name="adj" fmla="val 20350"/>
            </a:avLst>
          </a:prstGeom>
          <a:solidFill>
            <a:srgbClr val="F0F7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0350" y="1815703"/>
            <a:ext cx="32809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"컨설팅펌 출신 전략기획 10년 이상"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2164854"/>
            <a:ext cx="3521422" cy="374452"/>
          </a:xfrm>
          <a:prstGeom prst="roundRect">
            <a:avLst>
              <a:gd name="adj" fmla="val 20350"/>
            </a:avLst>
          </a:prstGeom>
          <a:solidFill>
            <a:srgbClr val="F0F7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350" y="2266355"/>
            <a:ext cx="32809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"네카라쿠배 출신 프론트엔드 개발자"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2615505"/>
            <a:ext cx="3521422" cy="374452"/>
          </a:xfrm>
          <a:prstGeom prst="roundRect">
            <a:avLst>
              <a:gd name="adj" fmla="val 20350"/>
            </a:avLst>
          </a:prstGeom>
          <a:solidFill>
            <a:srgbClr val="F0F7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0350" y="2717006"/>
            <a:ext cx="32809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"스타트업 CFO 경험 있는 회계사"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3066157"/>
            <a:ext cx="3521422" cy="374452"/>
          </a:xfrm>
          <a:prstGeom prst="roundRect">
            <a:avLst>
              <a:gd name="adj" fmla="val 20350"/>
            </a:avLst>
          </a:prstGeom>
          <a:solidFill>
            <a:srgbClr val="F0F7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0350" y="3167658"/>
            <a:ext cx="32809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"영어 능통 해외영업 경력 7년"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10373" y="888802"/>
            <a:ext cx="4225677" cy="3157538"/>
          </a:xfrm>
          <a:prstGeom prst="roundRect">
            <a:avLst>
              <a:gd name="adj" fmla="val 402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13523" y="1091952"/>
            <a:ext cx="3819376" cy="482501"/>
          </a:xfrm>
          <a:prstGeom prst="roundRect">
            <a:avLst>
              <a:gd name="adj" fmla="val 15793"/>
            </a:avLst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84973" y="1237952"/>
            <a:ext cx="35460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경력 10년 이상의 컨설팅펌 출신 전략기획 후보자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3523" y="1726853"/>
            <a:ext cx="3819376" cy="605582"/>
          </a:xfrm>
          <a:prstGeom prst="roundRect">
            <a:avLst>
              <a:gd name="adj" fmla="val 12583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40473" y="1853803"/>
            <a:ext cx="36367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해석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40473" y="2056954"/>
            <a:ext cx="363678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경력: 10년 이상 | 회사유형: 맥킨지, BCG, 베인 등 | 직무: 전략기획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13523" y="2459385"/>
            <a:ext cx="3819376" cy="1383804"/>
          </a:xfrm>
          <a:prstGeom prst="roundRect">
            <a:avLst>
              <a:gd name="adj" fmla="val 55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40473" y="2586335"/>
            <a:ext cx="36367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결과 4명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40473" y="3260824"/>
            <a:ext cx="3565475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40473" y="2878336"/>
            <a:ext cx="18122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정승현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0473" y="3049786"/>
            <a:ext cx="18122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전략기획 이사 @ 삼성전자 | 맥킨지 5년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051750" y="2878336"/>
            <a:ext cx="25928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40473" y="3711476"/>
            <a:ext cx="3565475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40473" y="3328988"/>
            <a:ext cx="10931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한지원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40473" y="3500438"/>
            <a:ext cx="10931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CSO @ 토스 | BCG 4년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51750" y="3328988"/>
            <a:ext cx="25928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65050"/>
            <a:ext cx="9975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도입 효과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26669" y="888802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서치드 도입, 실제 효과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26669" y="1374577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수백 명의 헤드헌터가 경험한 변화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802" y="1828502"/>
            <a:ext cx="1860649" cy="1415951"/>
          </a:xfrm>
          <a:prstGeom prst="roundRect">
            <a:avLst>
              <a:gd name="adj" fmla="val 8969"/>
            </a:avLst>
          </a:prstGeom>
          <a:solidFill>
            <a:srgbClr val="F0F7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0450" y="2057102"/>
            <a:ext cx="153535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70450" y="2561927"/>
            <a:ext cx="15353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커미션 증가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0450" y="2777728"/>
            <a:ext cx="15353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속도 + 정확도 향상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97051" y="1828502"/>
            <a:ext cx="1860649" cy="1415951"/>
          </a:xfrm>
          <a:prstGeom prst="roundRect">
            <a:avLst>
              <a:gd name="adj" fmla="val 8969"/>
            </a:avLst>
          </a:prstGeom>
          <a:solidFill>
            <a:srgbClr val="F0F7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59699" y="2057102"/>
            <a:ext cx="153535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47분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759699" y="2647652"/>
            <a:ext cx="15353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 → 제안 평균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59699" y="2863453"/>
            <a:ext cx="15353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경쟁사보다 하루 빠르게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86300" y="1828502"/>
            <a:ext cx="1860649" cy="1415951"/>
          </a:xfrm>
          <a:prstGeom prst="roundRect">
            <a:avLst>
              <a:gd name="adj" fmla="val 8969"/>
            </a:avLst>
          </a:prstGeom>
          <a:solidFill>
            <a:srgbClr val="F0F7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48948" y="2057102"/>
            <a:ext cx="153535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0.5건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48948" y="2647652"/>
            <a:ext cx="15353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회수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8948" y="2863453"/>
            <a:ext cx="15353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커미션 1건 = 1년 구독료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75549" y="1828502"/>
            <a:ext cx="1860649" cy="1415951"/>
          </a:xfrm>
          <a:prstGeom prst="roundRect">
            <a:avLst>
              <a:gd name="adj" fmla="val 8969"/>
            </a:avLst>
          </a:prstGeom>
          <a:solidFill>
            <a:srgbClr val="F0F7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38198" y="2057102"/>
            <a:ext cx="153535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+67%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938198" y="2561927"/>
            <a:ext cx="15353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포지션 커버리지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38198" y="2777728"/>
            <a:ext cx="15353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많은 포지션 동시 진행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6669" y="3498354"/>
            <a:ext cx="82906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"솔직히 반신반의했는데, 첫 달에 커미션 2건이 더 나왔어요." - 이민지 팀장, 10년차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64493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79772"/>
            <a:ext cx="9975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요금 안내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26669" y="616893"/>
            <a:ext cx="8290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합리적인 요금제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6698" y="1112193"/>
            <a:ext cx="3238351" cy="3396407"/>
          </a:xfrm>
          <a:prstGeom prst="roundRect">
            <a:avLst>
              <a:gd name="adj" fmla="val 3922"/>
            </a:avLst>
          </a:prstGeom>
          <a:solidFill>
            <a:srgbClr val="F8F9FA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400959" y="1334393"/>
            <a:ext cx="28498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00959" y="1623268"/>
            <a:ext cx="284982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99,000원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00959" y="1994743"/>
            <a:ext cx="28498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00959" y="2267694"/>
            <a:ext cx="28498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서치드를 시작하세요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28899" y="2547045"/>
            <a:ext cx="28498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이력서 업로드 월 50건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28899" y="2750195"/>
            <a:ext cx="28498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서치드 AI Engine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28899" y="2953345"/>
            <a:ext cx="28498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기본 검색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28899" y="3156496"/>
            <a:ext cx="28498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블라인드 내보내기 월 30회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28899" y="3359646"/>
            <a:ext cx="28498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이메일 지원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28899" y="3638996"/>
            <a:ext cx="2793950" cy="393502"/>
          </a:xfrm>
          <a:prstGeom prst="roundRect">
            <a:avLst>
              <a:gd name="adj" fmla="val 16137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400959" y="3740497"/>
            <a:ext cx="28498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98950" y="1112193"/>
            <a:ext cx="3238351" cy="3396407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68305" y="1347192"/>
            <a:ext cx="699492" cy="164902"/>
          </a:xfrm>
          <a:prstGeom prst="roundRect">
            <a:avLst>
              <a:gd name="adj" fmla="val 61613"/>
            </a:avLst>
          </a:prstGeom>
          <a:solidFill>
            <a:srgbClr val="4A90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64841" y="1372493"/>
            <a:ext cx="5064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93211" y="1588294"/>
            <a:ext cx="28498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93211" y="1877169"/>
            <a:ext cx="284982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149,000원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93211" y="2248644"/>
            <a:ext cx="28498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3211" y="2521595"/>
            <a:ext cx="28498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바쁜 헤드헌터를 위한 플랜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21151" y="2800945"/>
            <a:ext cx="28498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이력서 업로드 월 150건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21151" y="3004096"/>
            <a:ext cx="28498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3-Way AI Cross-Check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21151" y="3207246"/>
            <a:ext cx="28498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동의어 검색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21151" y="3410396"/>
            <a:ext cx="28498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버전 관리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21151" y="3613547"/>
            <a:ext cx="28498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무제한 블라인드 내보내기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21151" y="3892897"/>
            <a:ext cx="2793950" cy="393502"/>
          </a:xfrm>
          <a:prstGeom prst="roundRect">
            <a:avLst>
              <a:gd name="adj" fmla="val 16137"/>
            </a:avLst>
          </a:prstGeom>
          <a:solidFill>
            <a:srgbClr val="4A90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93211" y="3994398"/>
            <a:ext cx="28498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14일 무료 체험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4A90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03747" y="854571"/>
            <a:ext cx="2936358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00"/>
              </a:lnSpc>
              <a:spcAft>
                <a:spcPts val="10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시작하세요.
</a:t>
            </a:r>
            <a:r>
              <a:rPr lang="en-US" sz="3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14일 무료 체험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26462" y="1972121"/>
            <a:ext cx="5490927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20"/>
              </a:lnSpc>
              <a:spcAft>
                <a:spcPts val="2400"/>
              </a:spcAft>
              <a:buNone/>
            </a:pPr>
            <a:r>
              <a:rPr lang="en-US" sz="13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시간에 더 많이 제안하고, 더 정확히 매칭하고, 더 빨리 클로징하세요.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72458" y="2507903"/>
            <a:ext cx="2199084" cy="561975"/>
          </a:xfrm>
          <a:prstGeom prst="roundRect">
            <a:avLst>
              <a:gd name="adj" fmla="val 18079"/>
            </a:avLst>
          </a:prstGeom>
          <a:solidFill>
            <a:srgbClr val="4A90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64894" y="2660303"/>
            <a:ext cx="141421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무료로 시작하기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853419" y="3323779"/>
            <a:ext cx="34371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문의: contact@searched.kr | 데모: demo@searched.kr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83381" y="3768179"/>
            <a:ext cx="7770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60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서치드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681</Words>
  <Application>Microsoft Office PowerPoint</Application>
  <PresentationFormat>화면 슬라이드 쇼(16:9)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Calibri</vt:lpstr>
      <vt:lpstr>Calibri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Searched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서치드 - 헤드헌터를 위한 AI 솔루션</dc:title>
  <dc:subject>헤드헌터를 위한 AI 기반 이력서 관리 및 후보자 매칭 솔루션</dc:subject>
  <dc:creator>Searched</dc:creator>
  <cp:lastModifiedBy>KyungMin Kim</cp:lastModifiedBy>
  <cp:revision>2</cp:revision>
  <dcterms:created xsi:type="dcterms:W3CDTF">2026-01-24T07:10:55Z</dcterms:created>
  <dcterms:modified xsi:type="dcterms:W3CDTF">2026-01-24T07:22:17Z</dcterms:modified>
</cp:coreProperties>
</file>